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ParcFi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658368" y="187452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the undisputed lines of a freight invoice immediately —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only the exceptions in programmable USDC escrow.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58368" y="35204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3D7B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Track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139696" y="35204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Testnet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803904" y="352044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USDC-native settlement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223760" y="1371600"/>
            <a:ext cx="4297680" cy="3108960"/>
          </a:xfrm>
          <a:prstGeom prst="roundRect">
            <a:avLst>
              <a:gd name="adj" fmla="val 2647"/>
            </a:avLst>
          </a:prstGeom>
          <a:solidFill>
            <a:srgbClr val="1B2740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0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PARCFI-DEMO-0001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0" y="1847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 · three obligations, three companies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0" y="2331720"/>
            <a:ext cx="1649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ocean freight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7658" y="2331720"/>
            <a:ext cx="899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$7,500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197389" y="2331720"/>
            <a:ext cx="1049731" cy="256032"/>
          </a:xfrm>
          <a:prstGeom prst="roundRect">
            <a:avLst>
              <a:gd name="adj" fmla="val 50000"/>
            </a:avLst>
          </a:prstGeom>
          <a:solidFill>
            <a:srgbClr val="E2F5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0" y="2743200"/>
            <a:ext cx="1649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handling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7658" y="2743200"/>
            <a:ext cx="899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197389" y="2743200"/>
            <a:ext cx="1049731" cy="256032"/>
          </a:xfrm>
          <a:prstGeom prst="roundRect">
            <a:avLst>
              <a:gd name="adj" fmla="val 50000"/>
            </a:avLst>
          </a:prstGeom>
          <a:solidFill>
            <a:srgbClr val="E2F5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0" y="3154680"/>
            <a:ext cx="1649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Demurrage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7658" y="3154680"/>
            <a:ext cx="899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197389" y="3154680"/>
            <a:ext cx="1049731" cy="256032"/>
          </a:xfrm>
          <a:prstGeom prst="roundRect">
            <a:avLst>
              <a:gd name="adj" fmla="val 50000"/>
            </a:avLst>
          </a:prstGeom>
          <a:solidFill>
            <a:srgbClr val="FBE9E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98080" y="3657600"/>
            <a:ext cx="3749040" cy="0"/>
          </a:xfrm>
          <a:prstGeom prst="line">
            <a:avLst/>
          </a:prstGeom>
          <a:noFill/>
          <a:ln w="12700">
            <a:solidFill>
              <a:srgbClr val="2C3B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0" y="37673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dispute. Everyone else still gets paid.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58368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2 · Encode × Circle Programmable Money Hackathon · github.com/ADxZimmy/ParcFi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disputed charge freezes every legitimate payee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5943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multi-party freight invoice bundles obligations to different companies — carrier, terminal, forwarder, broker.</a:t>
            </a:r>
            <a:endParaRPr lang="en-US" sz="155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accessorial charge (demurrage, detention, a surcharge) is contested, AP workflows hold the entire invoice in an exception queue.</a:t>
            </a:r>
            <a:endParaRPr lang="en-US" sz="155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payee waits on a dispute that has nothing to do with them — financing cost, chased payments, damaged relationships.</a:t>
            </a:r>
            <a:endParaRPr lang="en-US" sz="155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DCSA is standardizing maritime e-invoicing precisely because layered surcharges and demurrage rules make reconciliation this hard.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548640" y="60350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DCSA Standards Roadmap 2026 (invoicing standard in discovery; alpha target Sep 2026).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040880" y="1463040"/>
            <a:ext cx="4572000" cy="2377440"/>
          </a:xfrm>
          <a:prstGeom prst="roundRect">
            <a:avLst>
              <a:gd name="adj" fmla="val 346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1645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THE WHOLE INVOICE WAITS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0" y="2029968"/>
            <a:ext cx="17702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ocean freight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085478" y="2029968"/>
            <a:ext cx="9656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$7,500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212019" y="2029968"/>
            <a:ext cx="1126541" cy="256032"/>
          </a:xfrm>
          <a:prstGeom prst="roundRect">
            <a:avLst>
              <a:gd name="adj" fmla="val 50000"/>
            </a:avLst>
          </a:prstGeom>
          <a:solidFill>
            <a:srgbClr val="FAF0D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8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0" y="2441448"/>
            <a:ext cx="17702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handling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085478" y="2441448"/>
            <a:ext cx="9656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212019" y="2441448"/>
            <a:ext cx="1126541" cy="256032"/>
          </a:xfrm>
          <a:prstGeom prst="roundRect">
            <a:avLst>
              <a:gd name="adj" fmla="val 50000"/>
            </a:avLst>
          </a:prstGeom>
          <a:solidFill>
            <a:srgbClr val="FAF0D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8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0" y="2852928"/>
            <a:ext cx="17702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Demurrage  (disputed)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085478" y="2852928"/>
            <a:ext cx="9656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212019" y="2852928"/>
            <a:ext cx="1126541" cy="256032"/>
          </a:xfrm>
          <a:prstGeom prst="roundRect">
            <a:avLst>
              <a:gd name="adj" fmla="val 50000"/>
            </a:avLst>
          </a:prstGeom>
          <a:solidFill>
            <a:srgbClr val="FAF0D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8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0" y="3291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queues make clean charges wait with the dirty one.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040880" y="4114800"/>
            <a:ext cx="4572000" cy="1554480"/>
          </a:xfrm>
          <a:prstGeom prst="roundRect">
            <a:avLst>
              <a:gd name="adj" fmla="val 5294"/>
            </a:avLst>
          </a:prstGeom>
          <a:solidFill>
            <a:srgbClr val="E7EFFF"/>
          </a:solidFill>
          <a:ln w="12700">
            <a:solidFill>
              <a:srgbClr val="E7E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42519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D7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$9,000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7315200" y="49377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undisputed value waiting on a $1,000 disagreement — the illustrative invoice our demo settles.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ParcFi settles per line, not per invoice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611880" cy="3017520"/>
          </a:xfrm>
          <a:prstGeom prst="roundRect">
            <a:avLst>
              <a:gd name="adj" fmla="val 272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856232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E7E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D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obligations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invoice line becomes its own USDC escrow obligation with a typed evidence requirement, its own challenge window, and its own lifecycle.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70832" y="1600200"/>
            <a:ext cx="3611880" cy="3017520"/>
          </a:xfrm>
          <a:prstGeom prst="roundRect">
            <a:avLst>
              <a:gd name="adj" fmla="val 272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432" y="1856232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E2F5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PULL-BASED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99432" y="22860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Pull-based claims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99432" y="2788920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Finalized lines credit each beneficiary's balance; every payee withdraws independently. One blocked or failing recipient can never freeze another's money.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93024" y="1600200"/>
            <a:ext cx="3611880" cy="3017520"/>
          </a:xfrm>
          <a:prstGeom prst="roundRect">
            <a:avLst>
              <a:gd name="adj" fmla="val 272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21624" y="1856232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BE9E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21624" y="22860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Quarantined disputes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21624" y="2788920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challenged line waits — value conserved — for a mutually appointed resolver to split, release, or refund only that line.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Boundary: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eBL platform, not payment for the goods, not a faster send/request wallet. ParcFi settles freight-service invoice obligations — and an evidence hash proves integrity, never title or delivery.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demo: a $10,000 invoice with one bad 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84048" cy="384048"/>
          </a:xfrm>
          <a:prstGeom prst="ellipse">
            <a:avLst/>
          </a:prstGeom>
          <a:solidFill>
            <a:srgbClr val="3D7B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24128" y="1655064"/>
            <a:ext cx="1737360" cy="0"/>
          </a:xfrm>
          <a:prstGeom prst="line">
            <a:avLst/>
          </a:prstGeom>
          <a:noFill/>
          <a:ln w="19050">
            <a:solidFill>
              <a:srgbClr val="C6D2E5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502920" y="19385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funds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2402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 USDC into the agreement on Arc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43784" y="1463040"/>
            <a:ext cx="384048" cy="384048"/>
          </a:xfrm>
          <a:prstGeom prst="ellipse">
            <a:avLst/>
          </a:prstGeom>
          <a:solidFill>
            <a:srgbClr val="3D7BFF"/>
          </a:solidFill>
          <a:ln/>
        </p:spPr>
      </p:sp>
      <p:sp>
        <p:nvSpPr>
          <p:cNvPr id="9" name="Text 7"/>
          <p:cNvSpPr/>
          <p:nvPr/>
        </p:nvSpPr>
        <p:spPr>
          <a:xfrm>
            <a:off x="2843784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19272" y="1655064"/>
            <a:ext cx="1737360" cy="0"/>
          </a:xfrm>
          <a:prstGeom prst="line">
            <a:avLst/>
          </a:prstGeom>
          <a:noFill/>
          <a:ln w="19050">
            <a:solidFill>
              <a:srgbClr val="C6D2E5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798064" y="19385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Attestor submits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98064" y="22402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evidence hashes; challenge windows open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138928" y="1463040"/>
            <a:ext cx="384048" cy="384048"/>
          </a:xfrm>
          <a:prstGeom prst="ellipse">
            <a:avLst/>
          </a:prstGeom>
          <a:solidFill>
            <a:srgbClr val="3D7BFF"/>
          </a:solidFill>
          <a:ln/>
        </p:spPr>
      </p:sp>
      <p:sp>
        <p:nvSpPr>
          <p:cNvPr id="14" name="Text 12"/>
          <p:cNvSpPr/>
          <p:nvPr/>
        </p:nvSpPr>
        <p:spPr>
          <a:xfrm>
            <a:off x="5138928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614416" y="1655064"/>
            <a:ext cx="1737360" cy="0"/>
          </a:xfrm>
          <a:prstGeom prst="line">
            <a:avLst/>
          </a:prstGeom>
          <a:noFill/>
          <a:ln w="19050">
            <a:solidFill>
              <a:srgbClr val="C6D2E5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093208" y="19385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disputes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93208" y="22402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demurrage line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34072" y="1463040"/>
            <a:ext cx="384048" cy="384048"/>
          </a:xfrm>
          <a:prstGeom prst="ellipse">
            <a:avLst/>
          </a:prstGeom>
          <a:solidFill>
            <a:srgbClr val="3D7BFF"/>
          </a:solidFill>
          <a:ln/>
        </p:spPr>
      </p:sp>
      <p:sp>
        <p:nvSpPr>
          <p:cNvPr id="19" name="Text 17"/>
          <p:cNvSpPr/>
          <p:nvPr/>
        </p:nvSpPr>
        <p:spPr>
          <a:xfrm>
            <a:off x="7434072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909560" y="1655064"/>
            <a:ext cx="1737360" cy="0"/>
          </a:xfrm>
          <a:prstGeom prst="line">
            <a:avLst/>
          </a:prstGeom>
          <a:noFill/>
          <a:ln w="19050">
            <a:solidFill>
              <a:srgbClr val="C6D2E5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388352" y="19385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lines release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88352" y="22402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&amp; terminal claim without waiting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729216" y="1463040"/>
            <a:ext cx="384048" cy="384048"/>
          </a:xfrm>
          <a:prstGeom prst="ellipse">
            <a:avLst/>
          </a:prstGeom>
          <a:solidFill>
            <a:srgbClr val="3D7BFF"/>
          </a:solidFill>
          <a:ln/>
        </p:spPr>
      </p:sp>
      <p:sp>
        <p:nvSpPr>
          <p:cNvPr id="24" name="Text 22"/>
          <p:cNvSpPr/>
          <p:nvPr/>
        </p:nvSpPr>
        <p:spPr>
          <a:xfrm>
            <a:off x="9729216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83496" y="19385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splits 60/40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83496" y="22402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$600 forwarder · $400 back to payer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3246120"/>
            <a:ext cx="6766560" cy="2788920"/>
          </a:xfrm>
          <a:prstGeom prst="roundRect">
            <a:avLst>
              <a:gd name="adj" fmla="val 2951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4290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STATE — EVERY DOLLAR ACCOUNTED FOR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2960" y="3813048"/>
            <a:ext cx="27358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ocean freight  →  carrier claimed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558845" y="3813048"/>
            <a:ext cx="1492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$7,500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299862" y="3813048"/>
            <a:ext cx="1741018" cy="256032"/>
          </a:xfrm>
          <a:prstGeom prst="roundRect">
            <a:avLst>
              <a:gd name="adj" fmla="val 50000"/>
            </a:avLst>
          </a:prstGeom>
          <a:solidFill>
            <a:srgbClr val="E2F5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" y="4251960"/>
            <a:ext cx="27358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handling  →  terminal claimed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58845" y="4251960"/>
            <a:ext cx="1492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299862" y="4251960"/>
            <a:ext cx="1741018" cy="256032"/>
          </a:xfrm>
          <a:prstGeom prst="roundRect">
            <a:avLst>
              <a:gd name="adj" fmla="val 50000"/>
            </a:avLst>
          </a:prstGeom>
          <a:solidFill>
            <a:srgbClr val="E2F5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2960" y="4690872"/>
            <a:ext cx="27358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Demurrage  →  $600 forwarder / $400 payer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3558845" y="4690872"/>
            <a:ext cx="1492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299862" y="4690872"/>
            <a:ext cx="1741018" cy="256032"/>
          </a:xfrm>
          <a:prstGeom prst="roundRect">
            <a:avLst>
              <a:gd name="adj" fmla="val 50000"/>
            </a:avLst>
          </a:prstGeom>
          <a:solidFill>
            <a:srgbClr val="E7E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22960" y="5166360"/>
            <a:ext cx="6217920" cy="0"/>
          </a:xfrm>
          <a:prstGeom prst="line">
            <a:avLst/>
          </a:prstGeom>
          <a:noFill/>
          <a:ln w="12700">
            <a:solidFill>
              <a:srgbClr val="C6D2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5276088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$9,600  +  refunded $400  =  funded $10,000 — conservation enforced by the contract, visible in the UI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635240" y="3246120"/>
            <a:ext cx="3977640" cy="1325880"/>
          </a:xfrm>
          <a:prstGeom prst="roundRect">
            <a:avLst>
              <a:gd name="adj" fmla="val 6207"/>
            </a:avLst>
          </a:prstGeom>
          <a:solidFill>
            <a:srgbClr val="E2F5EE"/>
          </a:solidFill>
          <a:ln w="12700">
            <a:solidFill>
              <a:srgbClr val="E2F5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0" y="3337560"/>
            <a:ext cx="370332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A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$9,000 early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7772400" y="3975354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and claimable while the dispute is still open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635240" y="4709160"/>
            <a:ext cx="3977640" cy="1325880"/>
          </a:xfrm>
          <a:prstGeom prst="roundRect">
            <a:avLst>
              <a:gd name="adj" fmla="val 6207"/>
            </a:avLst>
          </a:prstGeom>
          <a:solidFill>
            <a:srgbClr val="E7EFFF"/>
          </a:solidFill>
          <a:ln w="12700">
            <a:solidFill>
              <a:srgbClr val="E7E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0" y="4800600"/>
            <a:ext cx="370332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D7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events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7772400" y="5438394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an indexed on-chain event with an explorer link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incumbents leave open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4813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1188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452360" y="14813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PAIN SURVIVES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91672" cy="731520"/>
          </a:xfrm>
          <a:prstGeom prst="roundRect">
            <a:avLst>
              <a:gd name="adj" fmla="val 1125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01952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CargoBill · PayCargo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611880" y="1901952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logistics money faster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52360" y="1901952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Whole-invoice payments — no per-line dispute isolation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70048"/>
            <a:ext cx="11091672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743200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CargoEscrow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11880" y="2743200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escrow against delivery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52360" y="2743200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delivery event gates the entire payment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511296"/>
            <a:ext cx="11091672" cy="731520"/>
          </a:xfrm>
          <a:prstGeom prst="roundRect">
            <a:avLst>
              <a:gd name="adj" fmla="val 1125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584448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OpenEnvoy · Trax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611880" y="3584448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Line-item freight audit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52360" y="3584448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exceptions; don't segregate or settle the money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352544"/>
            <a:ext cx="11091672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425696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CargoX × Standage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611880" y="4425696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eBL ↔ payment atomic swap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52360" y="4425696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transfer — a different problem, deliberately avoided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34924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E7EFFF"/>
          </a:solidFill>
          <a:ln w="12700">
            <a:solidFill>
              <a:srgbClr val="E7E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ParcFi's wedge — programmable exception isolation:  </a:t>
            </a:r>
            <a:pPr indent="0" marL="0">
              <a:buNone/>
            </a:pPr>
            <a:r>
              <a:rPr lang="en-US" sz="15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finality for accepted obligations without surrendering control of contested ones.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Arc-native, built on Circle's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920240" cy="685800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901952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58368" y="219456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· disputes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920240" cy="685800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816352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Attestor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" y="310896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hashes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1920240" cy="685800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730752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8368" y="402336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/ release / refund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2148840"/>
            <a:ext cx="2926080" cy="2103120"/>
          </a:xfrm>
          <a:prstGeom prst="roundRect">
            <a:avLst>
              <a:gd name="adj" fmla="val 3913"/>
            </a:avLst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2331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ParcFiEscrow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2697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per-line state machines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6-decimal USDC · no admin keys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= source of truth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83280" y="370332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Testnet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0" y="1828800"/>
            <a:ext cx="1920240" cy="685800"/>
          </a:xfrm>
          <a:prstGeom prst="roundRect">
            <a:avLst>
              <a:gd name="adj" fmla="val 12000"/>
            </a:avLst>
          </a:prstGeom>
          <a:solidFill>
            <a:srgbClr val="E2F5EE"/>
          </a:solidFill>
          <a:ln w="12700">
            <a:solidFill>
              <a:srgbClr val="E2F5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67728" y="1901952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967728" y="219456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claim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0" y="2743200"/>
            <a:ext cx="1920240" cy="685800"/>
          </a:xfrm>
          <a:prstGeom prst="roundRect">
            <a:avLst>
              <a:gd name="adj" fmla="val 12000"/>
            </a:avLst>
          </a:prstGeom>
          <a:solidFill>
            <a:srgbClr val="E2F5EE"/>
          </a:solidFill>
          <a:ln w="12700">
            <a:solidFill>
              <a:srgbClr val="E2F5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67728" y="2816352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967728" y="310896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claim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0" y="3657600"/>
            <a:ext cx="1920240" cy="685800"/>
          </a:xfrm>
          <a:prstGeom prst="roundRect">
            <a:avLst>
              <a:gd name="adj" fmla="val 12000"/>
            </a:avLst>
          </a:prstGeom>
          <a:solidFill>
            <a:srgbClr val="E7EFFF"/>
          </a:solidFill>
          <a:ln w="12700">
            <a:solidFill>
              <a:srgbClr val="E7E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67728" y="3730752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refund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967728" y="402336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refund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14600" y="2167128"/>
            <a:ext cx="640080" cy="1033272"/>
          </a:xfrm>
          <a:prstGeom prst="line">
            <a:avLst/>
          </a:prstGeom>
          <a:noFill/>
          <a:ln w="19050">
            <a:solidFill>
              <a:srgbClr val="9DB1D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6172200" y="2167128"/>
            <a:ext cx="640080" cy="1033272"/>
          </a:xfrm>
          <a:prstGeom prst="line">
            <a:avLst/>
          </a:prstGeom>
          <a:noFill/>
          <a:ln w="19050">
            <a:solidFill>
              <a:srgbClr val="9DB1D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514600" y="3081528"/>
            <a:ext cx="640080" cy="118872"/>
          </a:xfrm>
          <a:prstGeom prst="line">
            <a:avLst/>
          </a:prstGeom>
          <a:noFill/>
          <a:ln w="19050">
            <a:solidFill>
              <a:srgbClr val="9DB1D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6172200" y="3081528"/>
            <a:ext cx="640080" cy="118872"/>
          </a:xfrm>
          <a:prstGeom prst="line">
            <a:avLst/>
          </a:prstGeom>
          <a:noFill/>
          <a:ln w="19050">
            <a:solidFill>
              <a:srgbClr val="9DB1D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V="1">
            <a:off x="2514600" y="3200400"/>
            <a:ext cx="640080" cy="795528"/>
          </a:xfrm>
          <a:prstGeom prst="line">
            <a:avLst/>
          </a:prstGeom>
          <a:noFill/>
          <a:ln w="19050">
            <a:solidFill>
              <a:srgbClr val="9DB1D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172200" y="3200400"/>
            <a:ext cx="640080" cy="795528"/>
          </a:xfrm>
          <a:prstGeom prst="line">
            <a:avLst/>
          </a:prstGeom>
          <a:noFill/>
          <a:ln w="19050">
            <a:solidFill>
              <a:srgbClr val="9DB1D1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54864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viem demo reads events and prepares calls · Circle Contracts deploys &amp; monitors the escrow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235440" y="15361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/ ARC SURFACE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235440" y="1874520"/>
            <a:ext cx="2423160" cy="896112"/>
          </a:xfrm>
          <a:prstGeom prst="roundRect">
            <a:avLst>
              <a:gd name="adj" fmla="val 9184"/>
            </a:avLst>
          </a:prstGeom>
          <a:solidFill>
            <a:srgbClr val="E7EFFF"/>
          </a:solidFill>
          <a:ln w="12700">
            <a:solidFill>
              <a:srgbClr val="E7E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72600" y="19659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Testnet USDC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372600" y="22860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6-decimal ERC-20 interface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235440" y="2898648"/>
            <a:ext cx="2423160" cy="896112"/>
          </a:xfrm>
          <a:prstGeom prst="roundRect">
            <a:avLst>
              <a:gd name="adj" fmla="val 9184"/>
            </a:avLst>
          </a:prstGeom>
          <a:solidFill>
            <a:srgbClr val="E2F5EE"/>
          </a:solidFill>
          <a:ln w="12700">
            <a:solidFill>
              <a:srgbClr val="E2F5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72600" y="29900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Contracts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372600" y="331012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escrow deployment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235440" y="3922776"/>
            <a:ext cx="2423160" cy="896112"/>
          </a:xfrm>
          <a:prstGeom prst="roundRect">
            <a:avLst>
              <a:gd name="adj" fmla="val 9184"/>
            </a:avLst>
          </a:prstGeom>
          <a:solidFill>
            <a:srgbClr val="FAF0DC"/>
          </a:solidFill>
          <a:ln w="12700">
            <a:solidFill>
              <a:srgbClr val="FAF0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72600" y="401421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8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Wallets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9372600" y="433425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passkey users — in progress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235440" y="4946904"/>
            <a:ext cx="2423160" cy="896112"/>
          </a:xfrm>
          <a:prstGeom prst="roundRect">
            <a:avLst>
              <a:gd name="adj" fmla="val 918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72600" y="503834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Kit Bridge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9372600" y="535838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stretch, feature-flagged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status: the hard part already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this is in the public repo — specs, tests, security review, and verification records included.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28216"/>
            <a:ext cx="310896" cy="310896"/>
          </a:xfrm>
          <a:prstGeom prst="ellipse">
            <a:avLst/>
          </a:prstGeom>
          <a:solidFill>
            <a:srgbClr val="1FA97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69164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validation first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05840" y="1993392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Researched incumbents &amp; Arc/Circle capabilities; rejected our broader “stablecoin freight payments” idea as underdifferentiated; narrowed to exception settlement.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310896" cy="310896"/>
          </a:xfrm>
          <a:prstGeom prst="ellipse">
            <a:avLst/>
          </a:prstGeom>
          <a:solidFill>
            <a:srgbClr val="1FA97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58775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specified, then built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05840" y="2889504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10-transition state machine, conservation invariants, bounded gas, no admin keys — implemented as ParcFiEscrow (Solidity 0.8.26, SafeERC20, reentrancy-guarded).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310896" cy="310896"/>
          </a:xfrm>
          <a:prstGeom prst="ellipse">
            <a:avLst/>
          </a:prstGeom>
          <a:solidFill>
            <a:srgbClr val="1FA97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20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483864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like money is at stake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05840" y="3785616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negative-path, boundary, fuzz, and four invariant campaigns driving every transition with ghost accounting under fail-on-revert.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416552"/>
            <a:ext cx="310896" cy="310896"/>
          </a:xfrm>
          <a:prstGeom prst="ellipse">
            <a:avLst/>
          </a:prstGeom>
          <a:solidFill>
            <a:srgbClr val="1FA97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16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437997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security review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005840" y="4681728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and fixed a real fund-stranding bug before any deployment; the fix is regression-tested and the suite is mutation-proven (remove the fix → tests fail).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312664"/>
            <a:ext cx="310896" cy="310896"/>
          </a:xfrm>
          <a:prstGeom prst="ellipse">
            <a:avLst/>
          </a:prstGeom>
          <a:solidFill>
            <a:srgbClr val="1FA97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312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527608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product demo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005840" y="5577840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golden path verified end-to-end in the browser against a local chain — role-gated actions, live countdowns, event log. CI green on every commit.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635240" y="1691640"/>
            <a:ext cx="3977640" cy="1234440"/>
          </a:xfrm>
          <a:prstGeom prst="roundRect">
            <a:avLst>
              <a:gd name="adj" fmla="val 6667"/>
            </a:avLst>
          </a:prstGeom>
          <a:solidFill>
            <a:srgbClr val="E2F5EE"/>
          </a:solidFill>
          <a:ln w="12700">
            <a:solidFill>
              <a:srgbClr val="E2F5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0" y="1783080"/>
            <a:ext cx="370332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A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 tests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772400" y="2370582"/>
            <a:ext cx="3703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· negative-path · fuzz · invariant — all green, locally and in CI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635240" y="3063240"/>
            <a:ext cx="3977640" cy="1234440"/>
          </a:xfrm>
          <a:prstGeom prst="roundRect">
            <a:avLst>
              <a:gd name="adj" fmla="val 6667"/>
            </a:avLst>
          </a:prstGeom>
          <a:solidFill>
            <a:srgbClr val="E7EFFF"/>
          </a:solidFill>
          <a:ln w="12700">
            <a:solidFill>
              <a:srgbClr val="E7E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3154680"/>
            <a:ext cx="370332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D7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campaigns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772400" y="3742182"/>
            <a:ext cx="3703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fuzzing of conservation, solvency, isolation, terminality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635240" y="4434840"/>
            <a:ext cx="3977640" cy="1234440"/>
          </a:xfrm>
          <a:prstGeom prst="roundRect">
            <a:avLst>
              <a:gd name="adj" fmla="val 6667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0" y="4526280"/>
            <a:ext cx="370332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bug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772400" y="5113782"/>
            <a:ext cx="3703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by our own security review and fixed pre-deployment — honesty over polish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today — the dispute moment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Recreated from the running demo (local chain). Arc Testnet deployment is the immediate next step.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97280" cy="777240"/>
          </a:xfrm>
          <a:prstGeom prst="roundRect">
            <a:avLst>
              <a:gd name="adj" fmla="val 10588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19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$10,000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755648" y="1645920"/>
            <a:ext cx="1097280" cy="777240"/>
          </a:xfrm>
          <a:prstGeom prst="roundRect">
            <a:avLst>
              <a:gd name="adj" fmla="val 10588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47088" y="1719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47088" y="193852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$10,000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62656" y="1645920"/>
            <a:ext cx="1097280" cy="777240"/>
          </a:xfrm>
          <a:prstGeom prst="roundRect">
            <a:avLst>
              <a:gd name="adj" fmla="val 10588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54096" y="1719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054096" y="193852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69664" y="1645920"/>
            <a:ext cx="1097280" cy="777240"/>
          </a:xfrm>
          <a:prstGeom prst="roundRect">
            <a:avLst>
              <a:gd name="adj" fmla="val 10588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61104" y="1719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CLAIMABLE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61104" y="193852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$9,000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76672" y="1645920"/>
            <a:ext cx="1097280" cy="777240"/>
          </a:xfrm>
          <a:prstGeom prst="roundRect">
            <a:avLst>
              <a:gd name="adj" fmla="val 10588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68112" y="1719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468112" y="193852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83680" y="1645920"/>
            <a:ext cx="1097280" cy="777240"/>
          </a:xfrm>
          <a:prstGeom prst="roundRect">
            <a:avLst>
              <a:gd name="adj" fmla="val 10588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719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REFUNDED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675120" y="193852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01000" y="18288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BE9E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46920" y="1847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status (derived)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2697480"/>
            <a:ext cx="6766560" cy="2743200"/>
          </a:xfrm>
          <a:prstGeom prst="roundRect">
            <a:avLst>
              <a:gd name="adj" fmla="val 3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2971800"/>
            <a:ext cx="27358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ocean freight — claimable by carrier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558845" y="2971800"/>
            <a:ext cx="1492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$7,500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299862" y="2971800"/>
            <a:ext cx="1741018" cy="256032"/>
          </a:xfrm>
          <a:prstGeom prst="roundRect">
            <a:avLst>
              <a:gd name="adj" fmla="val 50000"/>
            </a:avLst>
          </a:prstGeom>
          <a:solidFill>
            <a:srgbClr val="E2F5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" y="3429000"/>
            <a:ext cx="27358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handling — claimable by terminal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558845" y="3429000"/>
            <a:ext cx="1492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299862" y="3429000"/>
            <a:ext cx="1741018" cy="256032"/>
          </a:xfrm>
          <a:prstGeom prst="roundRect">
            <a:avLst>
              <a:gd name="adj" fmla="val 50000"/>
            </a:avLst>
          </a:prstGeom>
          <a:solidFill>
            <a:srgbClr val="E2F5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" y="3886200"/>
            <a:ext cx="27358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Demurrage — quarantined for resolver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558845" y="3886200"/>
            <a:ext cx="1492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299862" y="3886200"/>
            <a:ext cx="1741018" cy="256032"/>
          </a:xfrm>
          <a:prstGeom prst="roundRect">
            <a:avLst>
              <a:gd name="adj" fmla="val 50000"/>
            </a:avLst>
          </a:prstGeom>
          <a:solidFill>
            <a:srgbClr val="FBE9E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22960" y="4361688"/>
            <a:ext cx="6217920" cy="0"/>
          </a:xfrm>
          <a:prstGeom prst="line">
            <a:avLst/>
          </a:prstGeom>
          <a:noFill/>
          <a:ln w="12700">
            <a:solidFill>
              <a:srgbClr val="C6D2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44805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Line 1 released — $1,500 claimable by terminal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" y="477316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Line 0 released — $7,500 claimable by carrier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2960" y="506577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Line 2 disputed by payer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635240" y="26974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 THE APP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635240" y="3017520"/>
            <a:ext cx="3977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switchable demo roles with role-gated actions</a:t>
            </a:r>
            <a:endParaRPr lang="en-US" sz="125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challenge-window countdowns per line</a:t>
            </a:r>
            <a:endParaRPr lang="en-US" sz="125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Event-sourced activity log, explorer links ready</a:t>
            </a:r>
            <a:endParaRPr lang="en-US" sz="125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on screen: claimed + refunded = funded</a:t>
            </a:r>
            <a:endParaRPr lang="en-US" sz="125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demo reset; local time-skip for rehearsal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checkpoint to submission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3D7B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2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repo, deck, working local demo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554480" y="1783080"/>
            <a:ext cx="822960" cy="0"/>
          </a:xfrm>
          <a:prstGeom prst="line">
            <a:avLst/>
          </a:prstGeom>
          <a:noFill/>
          <a:ln w="19050">
            <a:solidFill>
              <a:srgbClr val="C6D2E5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459736" y="16459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FA97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29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59736" y="20574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Arc Testnet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459736" y="256032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via Circle Contracts; fund demo wallets from the Circle faucet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65576" y="1783080"/>
            <a:ext cx="822960" cy="0"/>
          </a:xfrm>
          <a:prstGeom prst="line">
            <a:avLst/>
          </a:prstGeom>
          <a:noFill/>
          <a:ln w="19050">
            <a:solidFill>
              <a:srgbClr val="C6D2E5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370832" y="16459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FA97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70832" y="20574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Wallets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370832" y="256032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passkey onboarding for payer &amp; beneficiaries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76672" y="1783080"/>
            <a:ext cx="822960" cy="0"/>
          </a:xfrm>
          <a:prstGeom prst="line">
            <a:avLst/>
          </a:prstGeom>
          <a:noFill/>
          <a:ln w="19050">
            <a:solidFill>
              <a:srgbClr val="C6D2E5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281928" y="16459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C98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81928" y="20574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go / no-go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281928" y="256032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Kit USDC route ships only if the core stays green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287768" y="1783080"/>
            <a:ext cx="822960" cy="0"/>
          </a:xfrm>
          <a:prstGeom prst="line">
            <a:avLst/>
          </a:prstGeom>
          <a:noFill/>
          <a:ln w="19050">
            <a:solidFill>
              <a:srgbClr val="C6D2E5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8193024" y="16459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D957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193024" y="20574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freeze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193024" y="256032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negative-path UAT, accessibility &amp; polish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98864" y="1783080"/>
            <a:ext cx="822960" cy="0"/>
          </a:xfrm>
          <a:prstGeom prst="line">
            <a:avLst/>
          </a:prstGeom>
          <a:noFill/>
          <a:ln w="19050">
            <a:solidFill>
              <a:srgbClr val="C6D2E5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0104120" y="16459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0E15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8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104120" y="20574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day early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0104120" y="256032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3-minute video, deck, public deployment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977640"/>
            <a:ext cx="11091672" cy="2011680"/>
          </a:xfrm>
          <a:prstGeom prst="roundRect">
            <a:avLst>
              <a:gd name="adj" fmla="val 4091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160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LABELS — WHAT THIS IS AND ISN'T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2960" y="45262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prototype with synthetic freight data — not production, no real-money claims. Arc mainnet, licensing, custody, and compliance questions are documented, not hand-waved.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hypotheses (who pays, pre-funding willingness, corridor) stay labeled as hypotheses while customer interviews run in parallel.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and PII never touch the chain — content hashes and typed metadata only.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disputed demurrage line should not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 every legitimate payee.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41248" y="3017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ParcFi releases the clean lines and quarantines only the exception — programmable USDC settlement on Arc.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41248" y="3977640"/>
            <a:ext cx="3017520" cy="347472"/>
          </a:xfrm>
          <a:prstGeom prst="roundRect">
            <a:avLst>
              <a:gd name="adj" fmla="val 50000"/>
            </a:avLst>
          </a:prstGeom>
          <a:solidFill>
            <a:srgbClr val="E2F5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Contract: 74 tests, reviewed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023360" y="3977640"/>
            <a:ext cx="3108960" cy="347472"/>
          </a:xfrm>
          <a:prstGeom prst="roundRect">
            <a:avLst>
              <a:gd name="adj" fmla="val 50000"/>
            </a:avLst>
          </a:prstGeom>
          <a:solidFill>
            <a:srgbClr val="E7E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golden path working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200" y="3977640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FAF0D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8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live on Arc Testnet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41248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7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github.com/ADxZimmy/ParcFi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41248" y="5715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E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Track · Encode × Circle Programmable Money Hackathon · Checkpoint 2 · 27 July 2026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2026-07-27T08:41:25Z</dcterms:created>
  <dcterms:modified xsi:type="dcterms:W3CDTF">2026-07-27T08:41:25Z</dcterms:modified>
</cp:coreProperties>
</file>